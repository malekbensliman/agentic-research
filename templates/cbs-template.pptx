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119.jpg" ContentType="image/jpeg"/>
  <Override PartName="/ppt/media/image217.jpg" ContentType="image/jpeg"/>
  <Override PartName="/ppt/media/image240.jpg" ContentType="image/jpeg"/>
  <Override PartName="/ppt/media/image242.jpg" ContentType="image/jpeg"/>
  <Override PartName="/ppt/media/image260.jpg" ContentType="image/jpeg"/>
  <Override PartName="/ppt/media/image281.jpg" ContentType="image/jpeg"/>
  <Override PartName="/ppt/media/image282.jpg" ContentType="image/jpeg"/>
  <Override PartName="/ppt/media/image285.jpg" ContentType="image/jpeg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5"/>
  </p:notesMasterIdLst>
  <p:handoutMasterIdLst>
    <p:handoutMasterId r:id="rId276"/>
  </p:handoutMasterIdLst>
  <p:sldIdLst/>
  <p:sldSz cx="12192000" cy="6858000"/>
  <p:notesSz cx="7010400" cy="92964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lides start here" id="{9C1F128F-459D-4E10-9E0C-43AE341D2625}">
          <p14:sldIdLst>
            <p14:sldId id="321"/>
            <p14:sldId id="1448943483"/>
            <p14:sldId id="12291"/>
            <p14:sldId id="12605"/>
            <p14:sldId id="12019"/>
            <p14:sldId id="4979"/>
            <p14:sldId id="11960"/>
            <p14:sldId id="11961"/>
            <p14:sldId id="11963"/>
            <p14:sldId id="11964"/>
            <p14:sldId id="11965"/>
            <p14:sldId id="11966"/>
            <p14:sldId id="11967"/>
            <p14:sldId id="12012"/>
            <p14:sldId id="12103"/>
            <p14:sldId id="12104"/>
            <p14:sldId id="12013"/>
            <p14:sldId id="12492"/>
            <p14:sldId id="11968"/>
            <p14:sldId id="11978"/>
            <p14:sldId id="12022"/>
            <p14:sldId id="11982"/>
            <p14:sldId id="12589"/>
            <p14:sldId id="12025"/>
            <p14:sldId id="12020"/>
            <p14:sldId id="12493"/>
            <p14:sldId id="11983"/>
            <p14:sldId id="11984"/>
            <p14:sldId id="11980"/>
            <p14:sldId id="5007"/>
            <p14:sldId id="5011"/>
            <p14:sldId id="5012"/>
            <p14:sldId id="11868"/>
            <p14:sldId id="5016"/>
            <p14:sldId id="12494"/>
            <p14:sldId id="5017"/>
            <p14:sldId id="1448943867"/>
            <p14:sldId id="4910"/>
            <p14:sldId id="1448943533"/>
            <p14:sldId id="5015"/>
            <p14:sldId id="1448943534"/>
            <p14:sldId id="1448943535"/>
            <p14:sldId id="1448943536"/>
            <p14:sldId id="1448943537"/>
            <p14:sldId id="1448943538"/>
            <p14:sldId id="1448943539"/>
            <p14:sldId id="4998"/>
            <p14:sldId id="1448943540"/>
            <p14:sldId id="1448943541"/>
            <p14:sldId id="1448943542"/>
            <p14:sldId id="11888"/>
            <p14:sldId id="1448943543"/>
            <p14:sldId id="1448943544"/>
            <p14:sldId id="1448943545"/>
            <p14:sldId id="1448943546"/>
            <p14:sldId id="12180"/>
            <p14:sldId id="12181"/>
            <p14:sldId id="1448943547"/>
            <p14:sldId id="12607"/>
            <p14:sldId id="12608"/>
            <p14:sldId id="12609"/>
            <p14:sldId id="12610"/>
            <p14:sldId id="12611"/>
            <p14:sldId id="12612"/>
            <p14:sldId id="12613"/>
            <p14:sldId id="12614"/>
            <p14:sldId id="12615"/>
            <p14:sldId id="12616"/>
            <p14:sldId id="12617"/>
            <p14:sldId id="12618"/>
            <p14:sldId id="12619"/>
            <p14:sldId id="12620"/>
            <p14:sldId id="12621"/>
            <p14:sldId id="12622"/>
            <p14:sldId id="12623"/>
            <p14:sldId id="12624"/>
            <p14:sldId id="12625"/>
            <p14:sldId id="12626"/>
            <p14:sldId id="12627"/>
            <p14:sldId id="1448943868"/>
            <p14:sldId id="12149"/>
            <p14:sldId id="1448943446"/>
            <p14:sldId id="1448943454"/>
            <p14:sldId id="1448943455"/>
            <p14:sldId id="12354"/>
            <p14:sldId id="1448943456"/>
            <p14:sldId id="1448943457"/>
            <p14:sldId id="1448943458"/>
            <p14:sldId id="1448943459"/>
            <p14:sldId id="12350"/>
            <p14:sldId id="1448943447"/>
            <p14:sldId id="1448943443"/>
            <p14:sldId id="1448943444"/>
            <p14:sldId id="1448943448"/>
            <p14:sldId id="1448943460"/>
            <p14:sldId id="1448943461"/>
            <p14:sldId id="1448943449"/>
            <p14:sldId id="12358"/>
            <p14:sldId id="12352"/>
            <p14:sldId id="12349"/>
            <p14:sldId id="12359"/>
            <p14:sldId id="1448943450"/>
            <p14:sldId id="12346"/>
            <p14:sldId id="12294"/>
            <p14:sldId id="1448943785"/>
            <p14:sldId id="1448943786"/>
            <p14:sldId id="1448943463"/>
            <p14:sldId id="1448943787"/>
            <p14:sldId id="1448943869"/>
            <p14:sldId id="1448943789"/>
            <p14:sldId id="1448943793"/>
            <p14:sldId id="1448943790"/>
            <p14:sldId id="1448943791"/>
            <p14:sldId id="1448943792"/>
            <p14:sldId id="1448943798"/>
            <p14:sldId id="1448943799"/>
            <p14:sldId id="1448943800"/>
            <p14:sldId id="1448943801"/>
            <p14:sldId id="1448943802"/>
            <p14:sldId id="1448943803"/>
            <p14:sldId id="1448943804"/>
            <p14:sldId id="1448943805"/>
            <p14:sldId id="1448943806"/>
            <p14:sldId id="1448943807"/>
            <p14:sldId id="1448943808"/>
            <p14:sldId id="1448943809"/>
            <p14:sldId id="1448943810"/>
            <p14:sldId id="1448943870"/>
            <p14:sldId id="1448943812"/>
            <p14:sldId id="1448943813"/>
            <p14:sldId id="1448943814"/>
            <p14:sldId id="1448943815"/>
            <p14:sldId id="1448943816"/>
            <p14:sldId id="1448943817"/>
          </p14:sldIdLst>
        </p14:section>
        <p14:section name="Building Apps" id="{A489D44A-77BE-4D99-8CCB-850FAEC70126}">
          <p14:sldIdLst>
            <p14:sldId id="1448943871"/>
            <p14:sldId id="1448943692"/>
            <p14:sldId id="1448943690"/>
            <p14:sldId id="1448943691"/>
            <p14:sldId id="1448943872"/>
            <p14:sldId id="1448943770"/>
            <p14:sldId id="12132"/>
            <p14:sldId id="1448943429"/>
            <p14:sldId id="1448943771"/>
            <p14:sldId id="1448943772"/>
            <p14:sldId id="12165"/>
            <p14:sldId id="12210"/>
            <p14:sldId id="12133"/>
            <p14:sldId id="12136"/>
            <p14:sldId id="11912"/>
            <p14:sldId id="11811"/>
            <p14:sldId id="11813"/>
            <p14:sldId id="11886"/>
            <p14:sldId id="11887"/>
            <p14:sldId id="11777"/>
            <p14:sldId id="11759"/>
            <p14:sldId id="11790"/>
            <p14:sldId id="1448943695"/>
            <p14:sldId id="1448943696"/>
            <p14:sldId id="1448943698"/>
            <p14:sldId id="1448943703"/>
            <p14:sldId id="1448943873"/>
            <p14:sldId id="1448943705"/>
            <p14:sldId id="1448943706"/>
            <p14:sldId id="1448943707"/>
            <p14:sldId id="1448943708"/>
            <p14:sldId id="1448943709"/>
            <p14:sldId id="1448943710"/>
            <p14:sldId id="1448943711"/>
            <p14:sldId id="1448943712"/>
            <p14:sldId id="1448943713"/>
            <p14:sldId id="1448943714"/>
            <p14:sldId id="1448943715"/>
            <p14:sldId id="1448943716"/>
            <p14:sldId id="1448943717"/>
            <p14:sldId id="1448943718"/>
            <p14:sldId id="1448943719"/>
            <p14:sldId id="1448943720"/>
            <p14:sldId id="1448943874"/>
            <p14:sldId id="1448943773"/>
            <p14:sldId id="1448943774"/>
            <p14:sldId id="1448943775"/>
            <p14:sldId id="1448943776"/>
            <p14:sldId id="1448943875"/>
            <p14:sldId id="1448943645"/>
            <p14:sldId id="12497"/>
            <p14:sldId id="1448943646"/>
            <p14:sldId id="1448943648"/>
            <p14:sldId id="1448943649"/>
            <p14:sldId id="1448943784"/>
            <p14:sldId id="1448943650"/>
            <p14:sldId id="1448943651"/>
            <p14:sldId id="1448943818"/>
            <p14:sldId id="1448943834"/>
            <p14:sldId id="1448943832"/>
            <p14:sldId id="1448943652"/>
            <p14:sldId id="1448943653"/>
            <p14:sldId id="1448943876"/>
            <p14:sldId id="1448943735"/>
            <p14:sldId id="1448943777"/>
            <p14:sldId id="1448943654"/>
            <p14:sldId id="1448943388"/>
            <p14:sldId id="12379"/>
            <p14:sldId id="1448943655"/>
            <p14:sldId id="12378"/>
            <p14:sldId id="1448943877"/>
            <p14:sldId id="1448943863"/>
            <p14:sldId id="1448943465"/>
            <p14:sldId id="1448943878"/>
            <p14:sldId id="258"/>
            <p14:sldId id="1448943884"/>
            <p14:sldId id="1448943882"/>
            <p14:sldId id="1448943883"/>
            <p14:sldId id="1448943879"/>
            <p14:sldId id="1448943836"/>
            <p14:sldId id="1448943778"/>
            <p14:sldId id="1448943837"/>
            <p14:sldId id="1448943885"/>
            <p14:sldId id="1448943838"/>
            <p14:sldId id="1448943780"/>
            <p14:sldId id="1448943506"/>
            <p14:sldId id="12380"/>
            <p14:sldId id="12018"/>
            <p14:sldId id="12217"/>
            <p14:sldId id="1448943840"/>
            <p14:sldId id="1448943841"/>
            <p14:sldId id="1448943842"/>
            <p14:sldId id="257"/>
            <p14:sldId id="1448943843"/>
            <p14:sldId id="1448943507"/>
            <p14:sldId id="1448943508"/>
            <p14:sldId id="1448943509"/>
            <p14:sldId id="1448943845"/>
            <p14:sldId id="1448943511"/>
            <p14:sldId id="1448943881"/>
            <p14:sldId id="1448943846"/>
            <p14:sldId id="1448943360"/>
            <p14:sldId id="1448943782"/>
            <p14:sldId id="1448943783"/>
            <p14:sldId id="1448943361"/>
            <p14:sldId id="1448943362"/>
            <p14:sldId id="1448943516"/>
            <p14:sldId id="1448943357"/>
            <p14:sldId id="1448943358"/>
            <p14:sldId id="256"/>
            <p14:sldId id="1448943515"/>
            <p14:sldId id="1448943848"/>
            <p14:sldId id="1448943514"/>
            <p14:sldId id="1448943820"/>
            <p14:sldId id="1448943849"/>
            <p14:sldId id="1448943850"/>
            <p14:sldId id="1448943851"/>
            <p14:sldId id="1448943852"/>
            <p14:sldId id="1448943853"/>
            <p14:sldId id="1448943854"/>
            <p14:sldId id="1448943855"/>
            <p14:sldId id="1448943517"/>
            <p14:sldId id="12345"/>
            <p14:sldId id="1448943856"/>
            <p14:sldId id="1448943857"/>
            <p14:sldId id="1448943880"/>
            <p14:sldId id="12334"/>
            <p14:sldId id="1448943859"/>
            <p14:sldId id="1448943432"/>
            <p14:sldId id="1448943431"/>
            <p14:sldId id="1448943486"/>
            <p14:sldId id="1448943860"/>
            <p14:sldId id="1448943428"/>
            <p14:sldId id="12040"/>
            <p14:sldId id="12292"/>
            <p14:sldId id="12295"/>
            <p14:sldId id="12284"/>
            <p14:sldId id="1448943861"/>
            <p14:sldId id="1448943862"/>
          </p14:sldIdLst>
        </p14:section>
        <p14:section name="Fine-Tuned At once You" id="{4FF2B5A5-C350-4840-B773-DF22B777CEE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979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ADFA02E-505D-821A-82F3-4B7558B43BB2}" name="Toubia, Olivier" initials="TO" userId="S::ot2107@gsb.columbia.edu::2502c09c-3f79-4733-b3f9-9d8ef89ae36f" providerId="AD"/>
  <p188:author id="{C3F21AC5-A048-C987-C4FF-3C424E899F6E}" name="Olivier" initials="O" userId="S::ot2107@adcu.columbia.edu::7eb82473-258f-434a-b3c8-cbc1534809e1" providerId="AD"/>
  <p188:author id="{002BB5CF-AE98-D036-6528-31579C8A0B49}" name="Malek A Ben Sliman" initials="MB" userId="S::mab2343@adcu.columbia.edu::01912ba6-dffe-402b-af76-e53e513fc6d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E14"/>
    <a:srgbClr val="FFFFFF"/>
    <a:srgbClr val="0F202A"/>
    <a:srgbClr val="0A181F"/>
    <a:srgbClr val="0E1B24"/>
    <a:srgbClr val="0C1921"/>
    <a:srgbClr val="080F15"/>
    <a:srgbClr val="091219"/>
    <a:srgbClr val="0D1A23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585" autoAdjust="0"/>
    <p:restoredTop sz="84194" autoAdjust="0"/>
  </p:normalViewPr>
  <p:slideViewPr>
    <p:cSldViewPr snapToGrid="0" showGuides="1">
      <p:cViewPr varScale="1">
        <p:scale>
          <a:sx n="185" d="100"/>
          <a:sy n="185" d="100"/>
        </p:scale>
        <p:origin x="360" y="184"/>
      </p:cViewPr>
      <p:guideLst>
        <p:guide orient="horz" pos="1979"/>
        <p:guide pos="3817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 snapToGrid="0" showGuides="1">
      <p:cViewPr varScale="1">
        <p:scale>
          <a:sx n="88" d="100"/>
          <a:sy n="88" d="100"/>
        </p:scale>
        <p:origin x="382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79" Type="http://schemas.openxmlformats.org/officeDocument/2006/relationships/theme" Target="theme/theme1.xml"/><Relationship Id="rId280" Type="http://schemas.openxmlformats.org/officeDocument/2006/relationships/tableStyles" Target="tableStyles.xml"/><Relationship Id="rId281" Type="http://schemas.microsoft.com/office/2018/10/relationships/authors" Target="authors.xml"/><Relationship Id="rId1" Type="http://schemas.openxmlformats.org/officeDocument/2006/relationships/slideMaster" Target="slideMasters/slideMaster1.xml"/><Relationship Id="rId275" Type="http://schemas.openxmlformats.org/officeDocument/2006/relationships/notesMaster" Target="notesMasters/notesMaster1.xml"/><Relationship Id="rId276" Type="http://schemas.openxmlformats.org/officeDocument/2006/relationships/handoutMaster" Target="handoutMasters/handoutMaster1.xml"/><Relationship Id="rId277" Type="http://schemas.openxmlformats.org/officeDocument/2006/relationships/presProps" Target="presProps.xml"/><Relationship Id="rId278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75627C4D-6DC7-436D-A946-1AC92548F2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9E7350B-B4FC-49E1-B944-05AA8B13A38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22C1573-76B0-4432-9877-B1880CB6A15B}" type="datetimeFigureOut">
              <a:rPr lang="es-AR" smtClean="0"/>
              <a:t>29/5/26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6002AC5-9D53-4384-94B1-F3C47FA0D3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03A04A4-E393-45AE-894D-005937A2DF6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0F1821E-F5C4-4CE1-8693-DC70EE24B2A4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834123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3FEED17-B41C-4248-9D42-E430BBCD85AA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 baseline="0"/>
            </a:lvl1pPr>
          </a:lstStyle>
          <a:p>
            <a:fld id="{BFBB89D2-B1A1-48E6-9BAE-C0EC37AF3F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8183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5CB80-059D-401B-BC6A-4ABF10810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2" y="1122363"/>
            <a:ext cx="11161713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3C1CC3-E466-4DA6-8BB0-DABD120A8B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2" y="3602038"/>
            <a:ext cx="11161713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1E80E-E3A9-41A9-ACD8-E7432EFE5D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4400" y="5356225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latin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9FA1605-CB32-4C19-BD9C-0900D83E6E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2913" y="6356350"/>
            <a:ext cx="84512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Session X - 1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341DA9-B323-4E10-946B-C41A80F56A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704" y="6356351"/>
            <a:ext cx="1510384" cy="3492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latin typeface="Century Gothic" panose="020B0502020202020204" pitchFamily="34" charset="0"/>
              </a:rPr>
              <a:t>Session 3 - </a:t>
            </a:r>
            <a:fld id="{D41FF02D-C919-45B0-ACAE-6208E5B8D369}" type="slidenum">
              <a:rPr lang="en-US" smtClean="0">
                <a:latin typeface="Century Gothic" panose="020B0502020202020204" pitchFamily="34" charset="0"/>
              </a:rPr>
              <a:pPr/>
              <a:t>‹#›</a:t>
            </a:fld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20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9AC34-602D-46F8-97F4-D3B441CFA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94441" y="6356351"/>
            <a:ext cx="7889717" cy="349249"/>
          </a:xfrm>
        </p:spPr>
        <p:txBody>
          <a:bodyPr/>
          <a:lstStyle/>
          <a:p>
            <a:r>
              <a:rPr lang="en-US"/>
              <a:t>Session X - 1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5FA88-155B-4E33-9D35-C35F47068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5625"/>
            <a:ext cx="1112996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4034472D-663F-4E28-94A6-8EBC61DDD304}"/>
              </a:ext>
            </a:extLst>
          </p:cNvPr>
          <p:cNvSpPr/>
          <p:nvPr userDrawn="1"/>
        </p:nvSpPr>
        <p:spPr>
          <a:xfrm>
            <a:off x="442913" y="6336390"/>
            <a:ext cx="1611523" cy="455865"/>
          </a:xfrm>
          <a:prstGeom prst="rect">
            <a:avLst/>
          </a:prstGeom>
          <a:blipFill>
            <a:blip r:embed="rId2" cstate="print">
              <a:alphaModFix/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b="0" i="0" dirty="0">
              <a:latin typeface="Century Gothic" panose="020B0502020202020204" pitchFamily="34" charset="0"/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A20BFC54-AD94-443C-9430-B01C45769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68300"/>
            <a:ext cx="11291889" cy="111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EB697FC8-FAD3-4204-B509-396E6DB27742}"/>
              </a:ext>
            </a:extLst>
          </p:cNvPr>
          <p:cNvCxnSpPr/>
          <p:nvPr userDrawn="1"/>
        </p:nvCxnSpPr>
        <p:spPr>
          <a:xfrm>
            <a:off x="0" y="6307362"/>
            <a:ext cx="12192000" cy="0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E3B4253-8361-63E3-F7D4-C4334C2179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704" y="6356351"/>
            <a:ext cx="1510384" cy="3492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latin typeface="Century Gothic" panose="020B0502020202020204" pitchFamily="34" charset="0"/>
              </a:rPr>
              <a:t>Session 3 - </a:t>
            </a:r>
            <a:fld id="{D41FF02D-C919-45B0-ACAE-6208E5B8D369}" type="slidenum">
              <a:rPr lang="en-US" smtClean="0">
                <a:latin typeface="Century Gothic" panose="020B0502020202020204" pitchFamily="34" charset="0"/>
              </a:rPr>
              <a:pPr/>
              <a:t>‹#›</a:t>
            </a:fld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248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799A4-F1BD-4521-A23F-B822CC177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346" y="1665288"/>
            <a:ext cx="11161280" cy="276816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AC115-828F-4AF1-A242-3F86D5C03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1147426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041A8E0-ACAC-4C40-B7D0-2D9F211D58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2913" y="6356350"/>
            <a:ext cx="84512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Session X - 1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898F6C2-49FB-ED85-A492-C355C93250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704" y="6356351"/>
            <a:ext cx="1510384" cy="3492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latin typeface="Century Gothic" panose="020B0502020202020204" pitchFamily="34" charset="0"/>
              </a:rPr>
              <a:t>Session 3 - </a:t>
            </a:r>
            <a:fld id="{D41FF02D-C919-45B0-ACAE-6208E5B8D369}" type="slidenum">
              <a:rPr lang="en-US" smtClean="0">
                <a:latin typeface="Century Gothic" panose="020B0502020202020204" pitchFamily="34" charset="0"/>
              </a:rPr>
              <a:pPr/>
              <a:t>‹#›</a:t>
            </a:fld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868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89838-A6D1-4E7F-9AB6-B6FAE3F096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2913" y="1839479"/>
            <a:ext cx="5472978" cy="4326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F69C2B-F66C-45DF-B67E-A255A723E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399" y="1825625"/>
            <a:ext cx="536170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0F36ED7E-D2ED-4EDF-B6D1-8AD20C591CC5}"/>
              </a:ext>
            </a:extLst>
          </p:cNvPr>
          <p:cNvCxnSpPr/>
          <p:nvPr userDrawn="1"/>
        </p:nvCxnSpPr>
        <p:spPr>
          <a:xfrm>
            <a:off x="0" y="6307362"/>
            <a:ext cx="12192000" cy="0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5F494F21-A17D-44F5-B90D-BC6224F22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68300"/>
            <a:ext cx="11291889" cy="111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C8DB7FA-0DBA-41B0-A8B9-DEF97EAEC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94441" y="6356351"/>
            <a:ext cx="7657897" cy="349249"/>
          </a:xfrm>
        </p:spPr>
        <p:txBody>
          <a:bodyPr/>
          <a:lstStyle/>
          <a:p>
            <a:r>
              <a:rPr lang="en-US"/>
              <a:t>Session X - 1</a:t>
            </a:r>
            <a:endParaRPr lang="en-US" dirty="0"/>
          </a:p>
        </p:txBody>
      </p:sp>
      <p:sp>
        <p:nvSpPr>
          <p:cNvPr id="16" name="object 3">
            <a:extLst>
              <a:ext uri="{FF2B5EF4-FFF2-40B4-BE49-F238E27FC236}">
                <a16:creationId xmlns:a16="http://schemas.microsoft.com/office/drawing/2014/main" id="{271AA439-6C20-415B-AC75-93A9C06998E3}"/>
              </a:ext>
            </a:extLst>
          </p:cNvPr>
          <p:cNvSpPr/>
          <p:nvPr userDrawn="1"/>
        </p:nvSpPr>
        <p:spPr>
          <a:xfrm>
            <a:off x="442913" y="6336390"/>
            <a:ext cx="1611523" cy="455865"/>
          </a:xfrm>
          <a:prstGeom prst="rect">
            <a:avLst/>
          </a:prstGeom>
          <a:blipFill>
            <a:blip r:embed="rId2" cstate="print">
              <a:alphaModFix/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b="0" i="0" dirty="0">
              <a:latin typeface="Century Gothic" panose="020B0502020202020204" pitchFamily="34" charset="0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4A83F2B-B43A-2C79-85B8-0A6F73B989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704" y="6356351"/>
            <a:ext cx="1510384" cy="3492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latin typeface="Century Gothic" panose="020B0502020202020204" pitchFamily="34" charset="0"/>
              </a:rPr>
              <a:t>Session 3 - </a:t>
            </a:r>
            <a:fld id="{D41FF02D-C919-45B0-ACAE-6208E5B8D369}" type="slidenum">
              <a:rPr lang="en-US" smtClean="0">
                <a:latin typeface="Century Gothic" panose="020B0502020202020204" pitchFamily="34" charset="0"/>
              </a:rPr>
              <a:pPr/>
              <a:t>‹#›</a:t>
            </a:fld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352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6649D-F27D-4B91-8553-F41F2B67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4" y="1773382"/>
            <a:ext cx="5556104" cy="637309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solidFill>
                  <a:schemeClr val="accent4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27D8CC-2FAC-4A44-9530-88A8094935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2913" y="2505075"/>
            <a:ext cx="5554663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46B314-EDB5-4D51-BB74-7801AB87E3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787235"/>
            <a:ext cx="5432425" cy="651165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solidFill>
                  <a:schemeClr val="accent4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2B431B-1BD8-4807-B5A3-02E55513FF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432426" cy="3660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DA2F0179-91E2-435B-A6D2-5A76AA5D0DEB}"/>
              </a:ext>
            </a:extLst>
          </p:cNvPr>
          <p:cNvCxnSpPr/>
          <p:nvPr userDrawn="1"/>
        </p:nvCxnSpPr>
        <p:spPr>
          <a:xfrm>
            <a:off x="0" y="6307362"/>
            <a:ext cx="12192000" cy="0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4AAEC2B3-76EE-4159-9E32-C93A33756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68300"/>
            <a:ext cx="11291889" cy="111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3C3FCAB-F3C9-4988-B43A-12417787C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94441" y="6356351"/>
            <a:ext cx="7928353" cy="349249"/>
          </a:xfrm>
        </p:spPr>
        <p:txBody>
          <a:bodyPr/>
          <a:lstStyle/>
          <a:p>
            <a:r>
              <a:rPr lang="en-US"/>
              <a:t>Session X - 1</a:t>
            </a:r>
            <a:endParaRPr lang="en-US" dirty="0"/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id="{8133BE7E-46F6-4406-957E-15FC802C6140}"/>
              </a:ext>
            </a:extLst>
          </p:cNvPr>
          <p:cNvSpPr/>
          <p:nvPr userDrawn="1"/>
        </p:nvSpPr>
        <p:spPr>
          <a:xfrm>
            <a:off x="442913" y="6336390"/>
            <a:ext cx="1611523" cy="455865"/>
          </a:xfrm>
          <a:prstGeom prst="rect">
            <a:avLst/>
          </a:prstGeom>
          <a:blipFill>
            <a:blip r:embed="rId2" cstate="print">
              <a:alphaModFix/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b="0" i="0" dirty="0">
              <a:latin typeface="Century Gothic" panose="020B0502020202020204" pitchFamily="34" charset="0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56BC0DC-8F19-2C2E-7D32-24EA9D8FA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38704" y="6356351"/>
            <a:ext cx="1510384" cy="3492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latin typeface="Century Gothic" panose="020B0502020202020204" pitchFamily="34" charset="0"/>
              </a:rPr>
              <a:t>Session 3 - </a:t>
            </a:r>
            <a:fld id="{D41FF02D-C919-45B0-ACAE-6208E5B8D369}" type="slidenum">
              <a:rPr lang="en-US" smtClean="0">
                <a:latin typeface="Century Gothic" panose="020B0502020202020204" pitchFamily="34" charset="0"/>
              </a:rPr>
              <a:pPr/>
              <a:t>‹#›</a:t>
            </a:fld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737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E9E61C9-0B20-482C-A645-5383D244EA37}"/>
              </a:ext>
            </a:extLst>
          </p:cNvPr>
          <p:cNvCxnSpPr/>
          <p:nvPr userDrawn="1"/>
        </p:nvCxnSpPr>
        <p:spPr>
          <a:xfrm>
            <a:off x="0" y="6307362"/>
            <a:ext cx="12192000" cy="0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EA7089C-10CE-4C27-8A18-CA5631DB0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68300"/>
            <a:ext cx="11291889" cy="111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FB45771-163F-400E-8338-87D5EDE33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94441" y="6356351"/>
            <a:ext cx="7876838" cy="349249"/>
          </a:xfrm>
        </p:spPr>
        <p:txBody>
          <a:bodyPr/>
          <a:lstStyle/>
          <a:p>
            <a:r>
              <a:rPr lang="en-US"/>
              <a:t>Session X - 1</a:t>
            </a:r>
            <a:endParaRPr lang="en-US" dirty="0"/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8F4A6D39-73E5-4268-8AC8-FA79AC95084C}"/>
              </a:ext>
            </a:extLst>
          </p:cNvPr>
          <p:cNvSpPr/>
          <p:nvPr userDrawn="1"/>
        </p:nvSpPr>
        <p:spPr>
          <a:xfrm>
            <a:off x="442913" y="6336390"/>
            <a:ext cx="1611523" cy="455865"/>
          </a:xfrm>
          <a:prstGeom prst="rect">
            <a:avLst/>
          </a:prstGeom>
          <a:blipFill>
            <a:blip r:embed="rId2" cstate="print">
              <a:alphaModFix/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b="0" i="0" dirty="0">
              <a:latin typeface="Century Gothic" panose="020B0502020202020204" pitchFamily="34" charset="0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6B0713D-056A-B543-3956-982FEE693C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704" y="6356351"/>
            <a:ext cx="1510384" cy="3492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latin typeface="Century Gothic" panose="020B0502020202020204" pitchFamily="34" charset="0"/>
              </a:rPr>
              <a:t>Session 3 - </a:t>
            </a:r>
            <a:fld id="{D41FF02D-C919-45B0-ACAE-6208E5B8D369}" type="slidenum">
              <a:rPr lang="en-US" smtClean="0">
                <a:latin typeface="Century Gothic" panose="020B0502020202020204" pitchFamily="34" charset="0"/>
              </a:rPr>
              <a:pPr/>
              <a:t>‹#›</a:t>
            </a:fld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717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9F694-0CCA-47D5-8CE5-3A9740544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2217" y="368300"/>
            <a:ext cx="6664037" cy="57975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A3A54D-8388-499A-989F-2352A99252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46" y="1808163"/>
            <a:ext cx="4328680" cy="4357687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4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14F86E8-56D7-4652-A7C1-7A25EF359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68300"/>
            <a:ext cx="4314827" cy="111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0FD0AFBC-6864-45AF-B2E2-06A24D16568A}"/>
              </a:ext>
            </a:extLst>
          </p:cNvPr>
          <p:cNvCxnSpPr/>
          <p:nvPr userDrawn="1"/>
        </p:nvCxnSpPr>
        <p:spPr>
          <a:xfrm>
            <a:off x="0" y="6307362"/>
            <a:ext cx="12192000" cy="0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9492725-CB89-4A7E-906D-FF1E1A252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94441" y="6356351"/>
            <a:ext cx="7889717" cy="349249"/>
          </a:xfrm>
        </p:spPr>
        <p:txBody>
          <a:bodyPr/>
          <a:lstStyle/>
          <a:p>
            <a:r>
              <a:rPr lang="en-US"/>
              <a:t>Session X - 1</a:t>
            </a:r>
            <a:endParaRPr lang="en-US" dirty="0"/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D4D26219-FB2D-41E0-91CB-F89CF468EB94}"/>
              </a:ext>
            </a:extLst>
          </p:cNvPr>
          <p:cNvSpPr/>
          <p:nvPr userDrawn="1"/>
        </p:nvSpPr>
        <p:spPr>
          <a:xfrm>
            <a:off x="442913" y="6336390"/>
            <a:ext cx="1611523" cy="455865"/>
          </a:xfrm>
          <a:prstGeom prst="rect">
            <a:avLst/>
          </a:prstGeom>
          <a:blipFill>
            <a:blip r:embed="rId2" cstate="print">
              <a:alphaModFix/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b="0" i="0" dirty="0">
              <a:latin typeface="Century Gothic" panose="020B0502020202020204" pitchFamily="34" charset="0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3B0422E-B8D9-92C3-7911-2D8772CA6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704" y="6356351"/>
            <a:ext cx="1510384" cy="3492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latin typeface="Century Gothic" panose="020B0502020202020204" pitchFamily="34" charset="0"/>
              </a:rPr>
              <a:t>Session 3 - </a:t>
            </a:r>
            <a:fld id="{D41FF02D-C919-45B0-ACAE-6208E5B8D369}" type="slidenum">
              <a:rPr lang="en-US" smtClean="0">
                <a:latin typeface="Century Gothic" panose="020B0502020202020204" pitchFamily="34" charset="0"/>
              </a:rPr>
              <a:pPr/>
              <a:t>‹#›</a:t>
            </a:fld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209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3293FA-1F60-483B-96D2-FADDB2C97A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314" y="368300"/>
            <a:ext cx="7300686" cy="57975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6A4587-F67F-4FC5-ADBE-FA155BD26E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2913" y="1808163"/>
            <a:ext cx="4329113" cy="43576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2A634133-7BA9-41CB-A932-DA05FAC44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68300"/>
            <a:ext cx="4314827" cy="111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D8693B71-9783-48D6-AE32-AB150D2AFAA0}"/>
              </a:ext>
            </a:extLst>
          </p:cNvPr>
          <p:cNvCxnSpPr/>
          <p:nvPr userDrawn="1"/>
        </p:nvCxnSpPr>
        <p:spPr>
          <a:xfrm>
            <a:off x="0" y="6307362"/>
            <a:ext cx="12192000" cy="0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19C7EA5-1069-4C77-B099-0B58C4F1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94441" y="6356351"/>
            <a:ext cx="7876838" cy="349249"/>
          </a:xfrm>
        </p:spPr>
        <p:txBody>
          <a:bodyPr/>
          <a:lstStyle/>
          <a:p>
            <a:r>
              <a:rPr lang="en-US"/>
              <a:t>Session X - 1</a:t>
            </a:r>
            <a:endParaRPr lang="en-US" dirty="0"/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7DA81946-E416-402B-B955-6C4373E6EC62}"/>
              </a:ext>
            </a:extLst>
          </p:cNvPr>
          <p:cNvSpPr/>
          <p:nvPr userDrawn="1"/>
        </p:nvSpPr>
        <p:spPr>
          <a:xfrm>
            <a:off x="442913" y="6336390"/>
            <a:ext cx="1611523" cy="455865"/>
          </a:xfrm>
          <a:prstGeom prst="rect">
            <a:avLst/>
          </a:prstGeom>
          <a:blipFill>
            <a:blip r:embed="rId2" cstate="print">
              <a:alphaModFix/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b="0" i="0" dirty="0">
              <a:latin typeface="Century Gothic" panose="020B0502020202020204" pitchFamily="34" charset="0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F559674-2A61-0709-22AE-243F6BD43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704" y="6356351"/>
            <a:ext cx="1510384" cy="3492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latin typeface="Century Gothic" panose="020B0502020202020204" pitchFamily="34" charset="0"/>
              </a:rPr>
              <a:t>Session 3 - </a:t>
            </a:r>
            <a:fld id="{D41FF02D-C919-45B0-ACAE-6208E5B8D369}" type="slidenum">
              <a:rPr lang="en-US" smtClean="0">
                <a:latin typeface="Century Gothic" panose="020B0502020202020204" pitchFamily="34" charset="0"/>
              </a:rPr>
              <a:pPr/>
              <a:t>‹#›</a:t>
            </a:fld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255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11120582" y="6391564"/>
            <a:ext cx="628073" cy="4664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667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609600" y="9240"/>
            <a:ext cx="10972800" cy="1052942"/>
          </a:xfrm>
        </p:spPr>
        <p:txBody>
          <a:bodyPr/>
          <a:lstStyle>
            <a:lvl1pPr>
              <a:defRPr sz="3600" b="0" i="0">
                <a:latin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08795" y="1459344"/>
            <a:ext cx="10973605" cy="4758783"/>
          </a:xfrm>
        </p:spPr>
        <p:txBody>
          <a:bodyPr/>
          <a:lstStyle>
            <a:lvl1pPr marL="174187" indent="-174187">
              <a:buFont typeface="Arial" panose="020B0604020202020204" pitchFamily="34" charset="0"/>
              <a:buChar char="•"/>
              <a:defRPr sz="3200" b="0" i="0">
                <a:latin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999940E-37DB-7997-8B98-7DAD6018D4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704" y="6356351"/>
            <a:ext cx="1510384" cy="3492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latin typeface="Century Gothic" panose="020B0502020202020204" pitchFamily="34" charset="0"/>
              </a:rPr>
              <a:t>Session 3 - </a:t>
            </a:r>
            <a:fld id="{D41FF02D-C919-45B0-ACAE-6208E5B8D369}" type="slidenum">
              <a:rPr lang="en-US" smtClean="0">
                <a:latin typeface="Century Gothic" panose="020B0502020202020204" pitchFamily="34" charset="0"/>
              </a:rPr>
              <a:pPr/>
              <a:t>‹#›</a:t>
            </a:fld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744349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Divid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8451" y="4820716"/>
            <a:ext cx="11595100" cy="395608"/>
          </a:xfrm>
        </p:spPr>
        <p:txBody>
          <a:bodyPr/>
          <a:lstStyle>
            <a:lvl1pPr marL="0" indent="0">
              <a:buNone/>
              <a:defRPr sz="2000" b="1" i="0" cap="none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8451" y="5248883"/>
            <a:ext cx="11595100" cy="380172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1800" cap="all" spc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98451" y="6158447"/>
            <a:ext cx="2937933" cy="66463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  <a:endParaRPr lang="en-GB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C485801-0FF7-A8CE-D921-BC3D61D52D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704" y="6356351"/>
            <a:ext cx="1510384" cy="3492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latin typeface="Century Gothic" panose="020B0502020202020204" pitchFamily="34" charset="0"/>
              </a:rPr>
              <a:t>Session 3 - </a:t>
            </a:r>
            <a:fld id="{D41FF02D-C919-45B0-ACAE-6208E5B8D369}" type="slidenum">
              <a:rPr lang="en-US" smtClean="0">
                <a:latin typeface="Century Gothic" panose="020B0502020202020204" pitchFamily="34" charset="0"/>
              </a:rPr>
              <a:pPr/>
              <a:t>‹#›</a:t>
            </a:fld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801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1A585E-877D-5A6B-168B-46AE401727B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Session X - 1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32A5578-6ABB-6731-CF5F-C333E9D76E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704" y="6356351"/>
            <a:ext cx="1510384" cy="3492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latin typeface="Century Gothic" panose="020B0502020202020204" pitchFamily="34" charset="0"/>
              </a:rPr>
              <a:t>Session 3 - </a:t>
            </a:r>
            <a:fld id="{D41FF02D-C919-45B0-ACAE-6208E5B8D369}" type="slidenum">
              <a:rPr lang="en-US" smtClean="0">
                <a:latin typeface="Century Gothic" panose="020B0502020202020204" pitchFamily="34" charset="0"/>
              </a:rPr>
              <a:pPr/>
              <a:t>‹#›</a:t>
            </a:fld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712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1_Title and Conten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540488" y="268994"/>
            <a:ext cx="10159357" cy="63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4000" b="0" i="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0" name="Google Shape;80;p17"/>
          <p:cNvSpPr txBox="1"/>
          <p:nvPr/>
        </p:nvSpPr>
        <p:spPr>
          <a:xfrm>
            <a:off x="9490596" y="6514909"/>
            <a:ext cx="2244204" cy="246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  <a:ea typeface="Poppins"/>
                <a:cs typeface="Poppins"/>
                <a:sym typeface="Poppins"/>
              </a:rPr>
              <a:t>Confidential. Not for Reproduction.</a:t>
            </a:r>
            <a:endParaRPr sz="1800" b="0" i="0" dirty="0">
              <a:solidFill>
                <a:schemeClr val="bg1">
                  <a:lumMod val="75000"/>
                </a:schemeClr>
              </a:solidFill>
              <a:latin typeface="Century Gothic" panose="020B0502020202020204" pitchFamily="34" charset="0"/>
              <a:cs typeface="Poppins" panose="000005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C3D78FD-AA90-426F-B6CA-26A485444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562" y="1064525"/>
            <a:ext cx="11129950" cy="5281683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B3BF7A-43C0-4693-93FF-BCD38C6AE6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89360" y="268994"/>
            <a:ext cx="534901" cy="1882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2766C80-EB7D-49E0-8416-1E938E66332E}"/>
              </a:ext>
            </a:extLst>
          </p:cNvPr>
          <p:cNvSpPr txBox="1"/>
          <p:nvPr userDrawn="1"/>
        </p:nvSpPr>
        <p:spPr>
          <a:xfrm>
            <a:off x="457200" y="6576437"/>
            <a:ext cx="5181600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fld id="{E20493B4-BACF-F041-BA91-704E6517C799}" type="slidenum">
              <a:rPr lang="en-US" sz="800" spc="50" smtClean="0">
                <a:solidFill>
                  <a:srgbClr val="3B4953"/>
                </a:solidFill>
                <a:latin typeface="Proxima Nova" panose="02000506030000020004" pitchFamily="50" charset="0"/>
                <a:cs typeface="Poppins" pitchFamily="2" charset="77"/>
              </a:rPr>
              <a:pPr/>
              <a:t>‹#›</a:t>
            </a:fld>
            <a:r>
              <a:rPr lang="en-US" sz="800" spc="50">
                <a:solidFill>
                  <a:srgbClr val="3B4953"/>
                </a:solidFill>
                <a:latin typeface="Proxima Nova" panose="02000506030000020004" pitchFamily="50" charset="0"/>
                <a:cs typeface="Poppins" pitchFamily="2" charset="77"/>
              </a:rPr>
              <a:t>  </a:t>
            </a:r>
            <a:r>
              <a:rPr lang="en-US" sz="800" spc="50">
                <a:solidFill>
                  <a:srgbClr val="77A3C4"/>
                </a:solidFill>
                <a:latin typeface="Proxima Nova" panose="02000506030000020004" pitchFamily="50" charset="0"/>
                <a:cs typeface="Poppins" pitchFamily="2" charset="77"/>
              </a:rPr>
              <a:t>GBK COLLECTIVE</a:t>
            </a:r>
          </a:p>
        </p:txBody>
      </p:sp>
    </p:spTree>
    <p:extLst>
      <p:ext uri="{BB962C8B-B14F-4D97-AF65-F5344CB8AC3E}">
        <p14:creationId xmlns:p14="http://schemas.microsoft.com/office/powerpoint/2010/main" val="20520874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3298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37F11B-9BF0-4C6A-AE30-EFFD4706E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68300"/>
            <a:ext cx="11291889" cy="111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B06EC-4CFB-4246-B107-5CC1B6738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665289"/>
            <a:ext cx="11291889" cy="4500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CAD4F-80EA-492F-9583-AC4F980DED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2914" y="6356351"/>
            <a:ext cx="9151848" cy="3492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Session X - 1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60F6681-716C-60FA-3FAF-1EEA4B838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704" y="6356351"/>
            <a:ext cx="1510384" cy="3492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latin typeface="Century Gothic" panose="020B0502020202020204" pitchFamily="34" charset="0"/>
              </a:rPr>
              <a:t>Session 3 - </a:t>
            </a:r>
            <a:fld id="{D41FF02D-C919-45B0-ACAE-6208E5B8D369}" type="slidenum">
              <a:rPr lang="en-US" smtClean="0">
                <a:latin typeface="Century Gothic" panose="020B0502020202020204" pitchFamily="34" charset="0"/>
              </a:rPr>
              <a:pPr/>
              <a:t>‹#›</a:t>
            </a:fld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033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74" r:id="rId9"/>
    <p:sldLayoutId id="2147483687" r:id="rId10"/>
    <p:sldLayoutId id="2147483688" r:id="rId11"/>
    <p:sldLayoutId id="2147483689" r:id="rId12"/>
    <p:sldLayoutId id="2147483690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49" userDrawn="1">
          <p15:clr>
            <a:srgbClr val="F26B43"/>
          </p15:clr>
        </p15:guide>
        <p15:guide id="2" pos="7401" userDrawn="1">
          <p15:clr>
            <a:srgbClr val="F26B43"/>
          </p15:clr>
        </p15:guide>
        <p15:guide id="3" pos="279" userDrawn="1">
          <p15:clr>
            <a:srgbClr val="F26B43"/>
          </p15:clr>
        </p15:guide>
        <p15:guide id="4" pos="3840" userDrawn="1">
          <p15:clr>
            <a:srgbClr val="F26B43"/>
          </p15:clr>
        </p15:guide>
        <p15:guide id="5" orient="horz" pos="3884" userDrawn="1">
          <p15:clr>
            <a:srgbClr val="F26B43"/>
          </p15:clr>
        </p15:guide>
        <p15:guide id="6" orient="horz" pos="935" userDrawn="1">
          <p15:clr>
            <a:srgbClr val="F26B43"/>
          </p15:clr>
        </p15:guide>
        <p15:guide id="7" orient="horz" pos="232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  <p15:guide id="9" orient="horz" pos="4224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Office Theme">
  <a:themeElements>
    <a:clrScheme name="CBS nuevo">
      <a:dk1>
        <a:srgbClr val="000000"/>
      </a:dk1>
      <a:lt1>
        <a:srgbClr val="FFFFFF"/>
      </a:lt1>
      <a:dk2>
        <a:srgbClr val="0081CC"/>
      </a:dk2>
      <a:lt2>
        <a:srgbClr val="F2F2F2"/>
      </a:lt2>
      <a:accent1>
        <a:srgbClr val="0081CC"/>
      </a:accent1>
      <a:accent2>
        <a:srgbClr val="AAC1E2"/>
      </a:accent2>
      <a:accent3>
        <a:srgbClr val="00AFEF"/>
      </a:accent3>
      <a:accent4>
        <a:srgbClr val="808080"/>
      </a:accent4>
      <a:accent5>
        <a:srgbClr val="9E9A92"/>
      </a:accent5>
      <a:accent6>
        <a:srgbClr val="404040"/>
      </a:accent6>
      <a:hlink>
        <a:srgbClr val="9CC3E5"/>
      </a:hlink>
      <a:folHlink>
        <a:srgbClr val="023160"/>
      </a:folHlink>
    </a:clrScheme>
    <a:fontScheme name="Custom 33">
      <a:majorFont>
        <a:latin typeface="Corbel"/>
        <a:ea typeface=""/>
        <a:cs typeface=""/>
      </a:majorFont>
      <a:minorFont>
        <a:latin typeface="Corbe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CC9EF87-1ABD-9240-9F4A-EE3EDAB754D5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f8c4e9a1-14c5-4246-b73b-1b0f2eb8f6b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43413</TotalTime>
  <Words>17901</Words>
  <Application>Microsoft Macintosh PowerPoint</Application>
  <PresentationFormat>Widescreen</PresentationFormat>
  <Paragraphs>2295</Paragraphs>
  <Slides>273</Slides>
  <Notes>269</Notes>
  <HiddenSlides>1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273</vt:i4>
      </vt:variant>
    </vt:vector>
  </HeadingPairs>
  <TitlesOfParts>
    <vt:vector size="286" baseType="lpstr">
      <vt:lpstr>Arial</vt:lpstr>
      <vt:lpstr>Calibri</vt:lpstr>
      <vt:lpstr>Century Gothic</vt:lpstr>
      <vt:lpstr>Courier New</vt:lpstr>
      <vt:lpstr>Georgia</vt:lpstr>
      <vt:lpstr>Helvetica Neue</vt:lpstr>
      <vt:lpstr>Poppins</vt:lpstr>
      <vt:lpstr>Proxima Nova</vt:lpstr>
      <vt:lpstr>Proxima Nova Rg</vt:lpstr>
      <vt:lpstr>Segoe UI</vt:lpstr>
      <vt:lpstr>Times New Roman</vt:lpstr>
      <vt:lpstr>Wingdings</vt:lpstr>
      <vt:lpstr>Office Theme</vt:lpstr>
      <vt:lpstr>B7609 – Generative AI for Business Day 3: Tools, Use Cases, and Ecosystem</vt:lpstr>
      <vt:lpstr>Morning Bingo!</vt:lpstr>
      <vt:lpstr>Hot Takes &amp; Show and Tell</vt:lpstr>
      <vt:lpstr>Agenda</vt:lpstr>
      <vt:lpstr>Building a Gen AI Solution</vt:lpstr>
      <vt:lpstr>What is an API?</vt:lpstr>
      <vt:lpstr>CBS AI Tool Introduction</vt:lpstr>
      <vt:lpstr>Select A Course</vt:lpstr>
      <vt:lpstr>Playground</vt:lpstr>
      <vt:lpstr>Playground</vt:lpstr>
      <vt:lpstr>Playground – Select API</vt:lpstr>
      <vt:lpstr>Playground – Select Model (Chat Example)</vt:lpstr>
      <vt:lpstr>Playground – Enter a Prompt and Run</vt:lpstr>
      <vt:lpstr>Playground – Clear All Chains</vt:lpstr>
      <vt:lpstr>Playground</vt:lpstr>
      <vt:lpstr>Playground Settings Try changing temperature to 0</vt:lpstr>
      <vt:lpstr>Playground – Add Chain</vt:lpstr>
      <vt:lpstr>PowerPoint Presentation</vt:lpstr>
      <vt:lpstr>Output Visualized</vt:lpstr>
      <vt:lpstr>CBS AI Tool &amp; API</vt:lpstr>
      <vt:lpstr>CBS AI Playground</vt:lpstr>
      <vt:lpstr>CBS AI Playground</vt:lpstr>
      <vt:lpstr>How to Select the Temperature?</vt:lpstr>
      <vt:lpstr>CBS AI Playground – System vs User vs Assistant</vt:lpstr>
      <vt:lpstr>System vs User vs Assistant</vt:lpstr>
      <vt:lpstr>Claude System Prompt</vt:lpstr>
      <vt:lpstr>CBS AI – Python Code</vt:lpstr>
      <vt:lpstr>API – Understand “messages”</vt:lpstr>
      <vt:lpstr>CBS AI Tool &amp; API</vt:lpstr>
      <vt:lpstr>Google Colab</vt:lpstr>
      <vt:lpstr>Colab</vt:lpstr>
      <vt:lpstr>Colab – Running Cells &amp; Installation</vt:lpstr>
      <vt:lpstr>Colab - Authentication</vt:lpstr>
      <vt:lpstr>Colab – Modifying the Request</vt:lpstr>
      <vt:lpstr>Colab – Modifying the Request</vt:lpstr>
      <vt:lpstr>Colab - Images</vt:lpstr>
      <vt:lpstr>Agenda</vt:lpstr>
      <vt:lpstr>The “Break GPT” Experiment</vt:lpstr>
      <vt:lpstr>The “Break GPT” Experiment</vt:lpstr>
      <vt:lpstr>Formulate Question</vt:lpstr>
      <vt:lpstr>How are we going to answer this question? We could ask directly…</vt:lpstr>
      <vt:lpstr>How are we going to answer this question? We could ask directly…</vt:lpstr>
      <vt:lpstr>Better to use “revealed preferences,” i.e., infer GPT’s “preferences” through its choices</vt:lpstr>
      <vt:lpstr>Better to use “revealed preferences,” i.e., infer GPT’s “preferences” through its choices</vt:lpstr>
      <vt:lpstr>Perhaps on the API, with temperature=0 and with instructions to answer?</vt:lpstr>
      <vt:lpstr>Include Other Factors</vt:lpstr>
      <vt:lpstr>Design Experiment</vt:lpstr>
      <vt:lpstr>How should we vary the prompts? </vt:lpstr>
      <vt:lpstr>PowerPoint Presentation</vt:lpstr>
      <vt:lpstr>Still Unclear?</vt:lpstr>
      <vt:lpstr>Plan Analysis</vt:lpstr>
      <vt:lpstr>Your Turn!</vt:lpstr>
      <vt:lpstr>Base Prompt Template</vt:lpstr>
      <vt:lpstr>Step 2</vt:lpstr>
      <vt:lpstr>Results: Evidence of Agism!</vt:lpstr>
      <vt:lpstr>Results: Evidence of Agism!</vt:lpstr>
      <vt:lpstr>Results: Evidence for bias in favor of middle option (B).  That’s why we need the API!</vt:lpstr>
      <vt:lpstr>From a Former EMBA Student posted 02/04/25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</vt:lpstr>
      <vt:lpstr>How do You see Gen AI?</vt:lpstr>
      <vt:lpstr>Highest Potential to Influence Business</vt:lpstr>
      <vt:lpstr>LLMs as a Tool to Write Code</vt:lpstr>
      <vt:lpstr>LLMs as a Tool to NOT Write Code</vt:lpstr>
      <vt:lpstr>PowerPoint Presentation</vt:lpstr>
      <vt:lpstr>Gen AI &amp; Finance – Stock Returns</vt:lpstr>
      <vt:lpstr>Performance</vt:lpstr>
      <vt:lpstr>Gen AI &amp; Finance – Statement Analysis</vt:lpstr>
      <vt:lpstr>Performance Compared to Financial Analysts</vt:lpstr>
      <vt:lpstr>PowerPoint Presentation</vt:lpstr>
      <vt:lpstr>Highest Potential to Influence Society</vt:lpstr>
      <vt:lpstr>PowerPoint Presentation</vt:lpstr>
      <vt:lpstr>PowerPoint Presentation</vt:lpstr>
      <vt:lpstr>Most Innovative</vt:lpstr>
      <vt:lpstr>PowerPoint Presentation</vt:lpstr>
      <vt:lpstr>PowerPoint Presentation</vt:lpstr>
      <vt:lpstr>Most Disruptive Overall</vt:lpstr>
      <vt:lpstr>PowerPoint Presentation</vt:lpstr>
      <vt:lpstr>PowerPoint Presentation</vt:lpstr>
      <vt:lpstr>PowerPoint Presentation</vt:lpstr>
      <vt:lpstr>PowerPoint Presentation</vt:lpstr>
      <vt:lpstr>Riskiest</vt:lpstr>
      <vt:lpstr>PowerPoint Presentation</vt:lpstr>
      <vt:lpstr>OpenClaw &amp; Malware!</vt:lpstr>
      <vt:lpstr>Why Some Gen AI Tools Succeed?</vt:lpstr>
      <vt:lpstr>Rise of Agentic AI</vt:lpstr>
      <vt:lpstr>LLM ”Properties” and Agentic AI</vt:lpstr>
      <vt:lpstr>Skills and Heterogeneity!</vt:lpstr>
      <vt:lpstr>Agenda</vt:lpstr>
      <vt:lpstr>Some Quotes on Creativity (that might explain why AI can be creative)</vt:lpstr>
      <vt:lpstr>Augmenting The Creation Process</vt:lpstr>
      <vt:lpstr>Brainstorming with GPT – Some Evidence</vt:lpstr>
      <vt:lpstr>Brainstorming with GPT – Some Evidence</vt:lpstr>
      <vt:lpstr>Brainstorming with GPT – Some Evidence</vt:lpstr>
      <vt:lpstr>GenAI and Creativity</vt:lpstr>
      <vt:lpstr>Cognitive Fixation vs. Cognitive Diversity</vt:lpstr>
      <vt:lpstr>Reducing Fixation: Chain-of-Thought Prompting</vt:lpstr>
      <vt:lpstr>How can we Bring Cognitive Variation into LLMs? </vt:lpstr>
      <vt:lpstr>Where do These Personas Come From? </vt:lpstr>
      <vt:lpstr>PowerPoint Presentation</vt:lpstr>
      <vt:lpstr>PowerPoint Presentation</vt:lpstr>
      <vt:lpstr>The “Jedi Trick”</vt:lpstr>
      <vt:lpstr>PowerPoint Presentation</vt:lpstr>
      <vt:lpstr>“Jedi Trick”?</vt:lpstr>
      <vt:lpstr>Improving LLM Idea Diversity</vt:lpstr>
      <vt:lpstr>Brainstorming Colab</vt:lpstr>
      <vt:lpstr>Creativity Assignment - Takasago – Use Cases</vt:lpstr>
      <vt:lpstr>Agenda</vt:lpstr>
      <vt:lpstr>How do Humans Respond to AI-generated creative content? Taboola Study </vt:lpstr>
      <vt:lpstr>Taboola Study – Do the Ads Look Human-made or AI-Generated? </vt:lpstr>
      <vt:lpstr>Taboola Study – AI Aversion</vt:lpstr>
      <vt:lpstr>But the Mechanism is Unclear… Al Aversion or Human Favoritism?</vt:lpstr>
      <vt:lpstr>Al Aversion or Human Favoritism?</vt:lpstr>
      <vt:lpstr>Disclosures</vt:lpstr>
      <vt:lpstr>Agenda</vt:lpstr>
      <vt:lpstr>Commercial Ad Generation Tools</vt:lpstr>
      <vt:lpstr>Personalized Persuasion at Scale</vt:lpstr>
      <vt:lpstr>Personalized Persuasion at Scale</vt:lpstr>
      <vt:lpstr>Agenda</vt:lpstr>
      <vt:lpstr>A Growing Area of Interest</vt:lpstr>
      <vt:lpstr>PowerPoint Presentation</vt:lpstr>
      <vt:lpstr>PowerPoint Presentation</vt:lpstr>
      <vt:lpstr>PowerPoint Presentation</vt:lpstr>
      <vt:lpstr>A few more</vt:lpstr>
      <vt:lpstr>GenAI Personality Tests</vt:lpstr>
      <vt:lpstr>PowerPoint Presentation</vt:lpstr>
      <vt:lpstr>…With Some Academic Discussion </vt:lpstr>
      <vt:lpstr>… With a Ton of Academic Discussion!</vt:lpstr>
      <vt:lpstr>Are we Ready for it? Ipsos’ View</vt:lpstr>
      <vt:lpstr>Some Concerns… Unrealistic Answers</vt:lpstr>
      <vt:lpstr>You had to draw the line somewhere!</vt:lpstr>
      <vt:lpstr>A bit of hope…</vt:lpstr>
      <vt:lpstr>… but no!</vt:lpstr>
      <vt:lpstr>Some Concerns… Sensitivity to Prompt Architecture</vt:lpstr>
      <vt:lpstr>Some Concerns… Whose Opinions is Captured?</vt:lpstr>
      <vt:lpstr>Findings</vt:lpstr>
      <vt:lpstr>Takasago Case – Part B</vt:lpstr>
      <vt:lpstr>Silicon Samples</vt:lpstr>
      <vt:lpstr>Building a Synthetic Persona</vt:lpstr>
      <vt:lpstr>Output: Accuracy, Precision, Recall</vt:lpstr>
      <vt:lpstr>Agenda</vt:lpstr>
      <vt:lpstr>Synthetic Data Solutions Continuum</vt:lpstr>
      <vt:lpstr>Digital Twins vs. Synthetic Personas</vt:lpstr>
      <vt:lpstr>The Twin-2k-500 Dataset</vt:lpstr>
      <vt:lpstr>Twin-2K-500 Methodology Overview</vt:lpstr>
      <vt:lpstr>Initial tests of digital twin performance</vt:lpstr>
      <vt:lpstr>Some observations… </vt:lpstr>
      <vt:lpstr>The Digital Twin Mega-Study</vt:lpstr>
      <vt:lpstr>Performance Evaluation (for each of 164 Outcomes)</vt:lpstr>
      <vt:lpstr>Benchmarks</vt:lpstr>
      <vt:lpstr>Gains From Leveraging Individual-Level Data</vt:lpstr>
      <vt:lpstr>Improve correlation but not individual-level accuracy?</vt:lpstr>
      <vt:lpstr>Digital Twins as Funhouse Mirrors: Five Key Distortions</vt:lpstr>
      <vt:lpstr>Representation Bias</vt:lpstr>
      <vt:lpstr>Ideological Biases</vt:lpstr>
      <vt:lpstr>Hyper-rationality</vt:lpstr>
      <vt:lpstr>Discussion</vt:lpstr>
      <vt:lpstr>Agenda</vt:lpstr>
      <vt:lpstr>Some Potential Enhancements?</vt:lpstr>
      <vt:lpstr>Fine-Tuning Options </vt:lpstr>
      <vt:lpstr>Fine-Tuning for Takasago?</vt:lpstr>
      <vt:lpstr>Fine Tuning </vt:lpstr>
      <vt:lpstr>Agenda</vt:lpstr>
      <vt:lpstr>Building Gen AI Tools – From POC to Production</vt:lpstr>
      <vt:lpstr>Retrieval Augmented Generation (RAG)</vt:lpstr>
      <vt:lpstr>Case Study: MBA Copilot</vt:lpstr>
      <vt:lpstr>Phase 2: Product Requirements</vt:lpstr>
      <vt:lpstr>Phase 3: Implementation</vt:lpstr>
      <vt:lpstr>Putting It Together!</vt:lpstr>
      <vt:lpstr>Phase 3: Implementation – My Setup </vt:lpstr>
      <vt:lpstr>Phase 3: Implementation – My Setup </vt:lpstr>
      <vt:lpstr>Using an AI Agent</vt:lpstr>
      <vt:lpstr>The Jargon Decoded</vt:lpstr>
      <vt:lpstr>When to Use Each</vt:lpstr>
      <vt:lpstr>Phase 3: Implementation – My Strategy </vt:lpstr>
      <vt:lpstr>The Result</vt:lpstr>
      <vt:lpstr>Agenda</vt:lpstr>
      <vt:lpstr>Optional Activity</vt:lpstr>
      <vt:lpstr>PowerPoint Presentation</vt:lpstr>
      <vt:lpstr>Workflow vs Agent</vt:lpstr>
      <vt:lpstr>MCP – Model Context Protocol</vt:lpstr>
      <vt:lpstr>PowerPoint Presentation</vt:lpstr>
      <vt:lpstr>Google – Agent Development Kit</vt:lpstr>
      <vt:lpstr>PowerPoint Presentation</vt:lpstr>
      <vt:lpstr>Agenda</vt:lpstr>
      <vt:lpstr>Asking the Questions</vt:lpstr>
      <vt:lpstr>Some Answers: Where is the Moat?</vt:lpstr>
      <vt:lpstr>Some Answers: Creating Successful Pilots? </vt:lpstr>
      <vt:lpstr>PowerPoint Presentation</vt:lpstr>
      <vt:lpstr>PowerPoint Presentation</vt:lpstr>
      <vt:lpstr>PowerPoint Presentation</vt:lpstr>
      <vt:lpstr>PowerPoint Presentation</vt:lpstr>
      <vt:lpstr>Agenda</vt:lpstr>
      <vt:lpstr>Gen AI is a General Purpose Technology</vt:lpstr>
      <vt:lpstr>General Purpose Technologies</vt:lpstr>
      <vt:lpstr>General Purpose Technologies Tend to have “Tech Stacks” – Electricity</vt:lpstr>
      <vt:lpstr>PowerPoint Presentation</vt:lpstr>
      <vt:lpstr>Gen AI Tech Stack</vt:lpstr>
      <vt:lpstr>Tech Stacks for Generative AI vs. “Traditional” AI? </vt:lpstr>
      <vt:lpstr>Tech Stacks for Discriminative AI vs. Traditional AI? </vt:lpstr>
      <vt:lpstr>General Purpose Technologies</vt:lpstr>
      <vt:lpstr>Electricity Tech Stack</vt:lpstr>
      <vt:lpstr>Gen AI Tech Stack</vt:lpstr>
      <vt:lpstr>PowerPoint Presentation</vt:lpstr>
      <vt:lpstr>PowerPoint Presentation</vt:lpstr>
      <vt:lpstr>PowerPoint Presentation</vt:lpstr>
      <vt:lpstr>PowerPoint Presentation</vt:lpstr>
      <vt:lpstr>Toward Smaller Models (Distillation)?</vt:lpstr>
      <vt:lpstr>Commoditization at the bottom of the stack? Fragmentation at the top?</vt:lpstr>
      <vt:lpstr>Commoditization at the Bottom? </vt:lpstr>
      <vt:lpstr>PowerPoint Presentation</vt:lpstr>
      <vt:lpstr>How About TPUs?</vt:lpstr>
      <vt:lpstr>Quantum computing at the Bottom of the Stack?</vt:lpstr>
      <vt:lpstr>PowerPoint Presentation</vt:lpstr>
      <vt:lpstr>Fragmented at the Top?</vt:lpstr>
      <vt:lpstr>PowerPoint Presentation</vt:lpstr>
      <vt:lpstr>PowerPoint Presentation</vt:lpstr>
      <vt:lpstr>PowerPoint Presentation</vt:lpstr>
      <vt:lpstr>PowerPoint Presentation</vt:lpstr>
      <vt:lpstr>AI Agents Need to be Orchestrated</vt:lpstr>
      <vt:lpstr>Strategic Role of MCP &amp; ADK!</vt:lpstr>
      <vt:lpstr>Starting to Look Less and Less Like This:</vt:lpstr>
      <vt:lpstr>And More and More Like This:</vt:lpstr>
      <vt:lpstr>PowerPoint Presentation</vt:lpstr>
      <vt:lpstr>Google’s Ecosystem!</vt:lpstr>
      <vt:lpstr>General Purpose Technologies</vt:lpstr>
      <vt:lpstr>Worth Checking Out</vt:lpstr>
      <vt:lpstr>PowerPoint Presentation</vt:lpstr>
      <vt:lpstr>Gen AI Players</vt:lpstr>
      <vt:lpstr>Gen AI Players</vt:lpstr>
      <vt:lpstr>Antitrust Issues?</vt:lpstr>
      <vt:lpstr>General Purpose Technologies</vt:lpstr>
      <vt:lpstr>Electricity vs. GDP</vt:lpstr>
      <vt:lpstr>GDP per Capita vs. Electricity Adoption</vt:lpstr>
      <vt:lpstr>Disparities Across Countries - Electricity</vt:lpstr>
      <vt:lpstr>Disparities Across Countries – Gen AI?</vt:lpstr>
      <vt:lpstr>PowerPoint Presentation</vt:lpstr>
      <vt:lpstr>PowerPoint Presentation</vt:lpstr>
      <vt:lpstr>The Gen AI Ecosystem in 2026 and Beyond </vt:lpstr>
      <vt:lpstr>Agenda</vt:lpstr>
      <vt:lpstr>Monetization of Generative AI? </vt:lpstr>
      <vt:lpstr>Gen AI Tech Stack</vt:lpstr>
      <vt:lpstr>PowerPoint Presentation</vt:lpstr>
      <vt:lpstr>PowerPoint Presentation</vt:lpstr>
      <vt:lpstr>Advertising</vt:lpstr>
      <vt:lpstr>Source Material</vt:lpstr>
      <vt:lpstr>Let’s Think This Through</vt:lpstr>
      <vt:lpstr>Claude @ Superbowl</vt:lpstr>
      <vt:lpstr>It Did Sting a Bit!</vt:lpstr>
      <vt:lpstr>How to Win a Beef!</vt:lpstr>
      <vt:lpstr>Bundling?</vt:lpstr>
      <vt:lpstr>Comparables?</vt:lpstr>
      <vt:lpstr>The TV Monetization Model…  With a Few Twists?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B6601 – Marketing Session 1: Customer Value</dc:title>
  <dc:subject/>
  <dc:creator>Bellezza, Silvia</dc:creator>
  <cp:keywords/>
  <dc:description/>
  <cp:lastModifiedBy>Ben Sliman, Malek</cp:lastModifiedBy>
  <cp:revision>581</cp:revision>
  <cp:lastPrinted>2021-09-09T14:59:41Z</cp:lastPrinted>
  <dcterms:created xsi:type="dcterms:W3CDTF">2020-10-22T16:49:58Z</dcterms:created>
  <dcterms:modified xsi:type="dcterms:W3CDTF">2026-05-30T01:34:22Z</dcterms:modified>
  <cp:category/>
</cp:coreProperties>
</file>